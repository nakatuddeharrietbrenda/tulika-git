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59E0B"/>
                </a:solidFill>
                <a:latin typeface="Arial"/>
              </a:defRPr>
            </a:pPr>
            <a:r>
              <a:t>TULIKA TOURS &amp; TRAVELS</a:t>
            </a:r>
          </a:p>
          <a:p>
            <a:pPr>
              <a:spcBef>
                <a:spcPts val="1000"/>
              </a:spcBef>
              <a:defRPr sz="2400" b="1">
                <a:solidFill>
                  <a:srgbClr val="FAFAF9"/>
                </a:solidFill>
                <a:latin typeface="Arial"/>
              </a:defRPr>
            </a:pPr>
            <a:r>
              <a:t>Data-Driven ML &amp; Analytics Dashboard</a:t>
            </a:r>
          </a:p>
          <a:p>
            <a:pPr>
              <a:spcBef>
                <a:spcPts val="3000"/>
              </a:spcBef>
              <a:defRPr sz="1400">
                <a:solidFill>
                  <a:srgbClr val="64748B"/>
                </a:solidFill>
                <a:latin typeface="Arial"/>
              </a:defRPr>
            </a:pPr>
            <a:r>
              <a:t>Project Presentation &amp; Architecture Review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D5A27"/>
                </a:solidFill>
                <a:latin typeface="Arial"/>
              </a:defRPr>
            </a:pPr>
            <a:r>
              <a:t>Project Overview &amp;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172A"/>
                </a:solidFill>
              </a:defRPr>
            </a:pPr>
            <a:r>
              <a:t>Goal:</a:t>
            </a:r>
          </a:p>
          <a:p>
            <a:pPr>
              <a:spcAft>
                <a:spcPts val="2000"/>
              </a:spcAft>
              <a:defRPr sz="1400">
                <a:solidFill>
                  <a:srgbClr val="0F172A"/>
                </a:solidFill>
              </a:defRPr>
            </a:pPr>
            <a:r>
              <a:t>To empower Tulika Tours with predictive capabilities and data insights, helping them understand customer booking patterns, travel preferences, and customer demographics.</a:t>
            </a:r>
          </a:p>
          <a:p>
            <a:pPr>
              <a:defRPr sz="1800" b="1">
                <a:solidFill>
                  <a:srgbClr val="0F172A"/>
                </a:solidFill>
              </a:defRPr>
            </a:pPr>
            <a:r>
              <a:t>Key Objectives:</a:t>
            </a:r>
          </a:p>
          <a:p>
            <a:pPr>
              <a:spcBef>
                <a:spcPts val="500"/>
              </a:spcBef>
              <a:defRPr sz="1400">
                <a:solidFill>
                  <a:srgbClr val="0F172A"/>
                </a:solidFill>
              </a:defRPr>
            </a:pPr>
            <a:r>
              <a:t>• Create an interactive system to visualize traveler attributes and histories.</a:t>
            </a:r>
          </a:p>
          <a:p>
            <a:pPr>
              <a:spcBef>
                <a:spcPts val="500"/>
              </a:spcBef>
              <a:defRPr sz="1400">
                <a:solidFill>
                  <a:srgbClr val="0F172A"/>
                </a:solidFill>
              </a:defRPr>
            </a:pPr>
            <a:r>
              <a:t>• Apply Machine Learning (K-Means Clustering) to segment customers dynamically.</a:t>
            </a:r>
          </a:p>
          <a:p>
            <a:pPr>
              <a:spcBef>
                <a:spcPts val="500"/>
              </a:spcBef>
              <a:defRPr sz="1400">
                <a:solidFill>
                  <a:srgbClr val="0F172A"/>
                </a:solidFill>
              </a:defRPr>
            </a:pPr>
            <a:r>
              <a:t>• Perform Sentiment Analysis on reviews to measure customer satisfaction.</a:t>
            </a:r>
          </a:p>
          <a:p>
            <a:pPr>
              <a:spcBef>
                <a:spcPts val="500"/>
              </a:spcBef>
              <a:defRPr sz="1400">
                <a:solidFill>
                  <a:srgbClr val="0F172A"/>
                </a:solidFill>
              </a:defRPr>
            </a:pPr>
            <a:r>
              <a:t>• Forecast monthly booking demand to optimize fleet and resources.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D5A27"/>
                </a:solidFill>
                <a:latin typeface="Arial"/>
              </a:defRPr>
            </a:pPr>
            <a:r>
              <a:t>System Architecture &amp; Tech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sz="1600" b="1">
                <a:solidFill>
                  <a:srgbClr val="2D5A27"/>
                </a:solidFill>
              </a:defRPr>
            </a:pPr>
            <a:r>
              <a:t>Frontend Application</a:t>
            </a:r>
          </a:p>
          <a:p>
            <a:pPr>
              <a:spcBef>
                <a:spcPts val="200"/>
              </a:spcBef>
              <a:spcAft>
                <a:spcPts val="500"/>
              </a:spcAft>
              <a:defRPr sz="1300">
                <a:solidFill>
                  <a:srgbClr val="0F172A"/>
                </a:solidFill>
              </a:defRPr>
            </a:pPr>
            <a:r>
              <a:t>React.js, React Router v6, Chart visualization using Recharts, and styled using modern CSS variables with premium dark/light themes.</a:t>
            </a:r>
          </a:p>
          <a:p>
            <a:pPr>
              <a:spcBef>
                <a:spcPts val="1200"/>
              </a:spcBef>
              <a:defRPr sz="1600" b="1">
                <a:solidFill>
                  <a:srgbClr val="2D5A27"/>
                </a:solidFill>
              </a:defRPr>
            </a:pPr>
            <a:r>
              <a:t>Backend REST API</a:t>
            </a:r>
          </a:p>
          <a:p>
            <a:pPr>
              <a:spcBef>
                <a:spcPts val="200"/>
              </a:spcBef>
              <a:spcAft>
                <a:spcPts val="500"/>
              </a:spcAft>
              <a:defRPr sz="1300">
                <a:solidFill>
                  <a:srgbClr val="0F172A"/>
                </a:solidFill>
              </a:defRPr>
            </a:pPr>
            <a:r>
              <a:t>Flask, Flask-SQLAlchemy (relational database storage), JWT-Extended for token authentication, and Flask-Mail for notification emails.</a:t>
            </a:r>
          </a:p>
          <a:p>
            <a:pPr>
              <a:spcBef>
                <a:spcPts val="1200"/>
              </a:spcBef>
              <a:defRPr sz="1600" b="1">
                <a:solidFill>
                  <a:srgbClr val="2D5A27"/>
                </a:solidFill>
              </a:defRPr>
            </a:pPr>
            <a:r>
              <a:t>Data Science &amp; ML Core</a:t>
            </a:r>
          </a:p>
          <a:p>
            <a:pPr>
              <a:spcBef>
                <a:spcPts val="200"/>
              </a:spcBef>
              <a:spcAft>
                <a:spcPts val="500"/>
              </a:spcAft>
              <a:defRPr sz="1300">
                <a:solidFill>
                  <a:srgbClr val="0F172A"/>
                </a:solidFill>
              </a:defRPr>
            </a:pPr>
            <a:r>
              <a:t>Python, Pandas, NumPy, Scikit-learn (StandardScaler, KMeans), Matplotlib, and Seaborn for report generation.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D5A27"/>
                </a:solidFill>
                <a:latin typeface="Arial"/>
              </a:defRPr>
            </a:pPr>
            <a:r>
              <a:t>Machine Learning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D5A27"/>
                </a:solidFill>
              </a:defRPr>
            </a:pPr>
            <a:r>
              <a:t>1. Customer Segmentation (Unsupervised Learning)</a:t>
            </a:r>
          </a:p>
          <a:p>
            <a:pPr>
              <a:spcBef>
                <a:spcPts val="400"/>
              </a:spcBef>
              <a:spcAft>
                <a:spcPts val="1500"/>
              </a:spcAft>
              <a:defRPr sz="1300">
                <a:solidFill>
                  <a:srgbClr val="0F172A"/>
                </a:solidFill>
              </a:defRPr>
            </a:pPr>
            <a:r>
              <a:t>• Algortihm: K-Means Clustering.</a:t>
            </a:r>
            <a:br/>
            <a:r>
              <a:t>• Features: Package price and destination popularity index.</a:t>
            </a:r>
            <a:br/>
            <a:r>
              <a:t>• Customer Classes: Classified into Budget Travelers (Green), Medium Clients (Purple), and Luxury Clients (Yellow).</a:t>
            </a:r>
          </a:p>
          <a:p>
            <a:pPr>
              <a:defRPr sz="1600" b="1">
                <a:solidFill>
                  <a:srgbClr val="2D5A27"/>
                </a:solidFill>
              </a:defRPr>
            </a:pPr>
            <a:r>
              <a:t>2. Sentiment Classification</a:t>
            </a:r>
          </a:p>
          <a:p>
            <a:pPr>
              <a:spcBef>
                <a:spcPts val="400"/>
              </a:spcBef>
              <a:defRPr sz="1300">
                <a:solidFill>
                  <a:srgbClr val="0F172A"/>
                </a:solidFill>
              </a:defRPr>
            </a:pPr>
            <a:r>
              <a:t>• Method: Rating-based sentiment mapping.</a:t>
            </a:r>
            <a:br/>
            <a:r>
              <a:t>• Sentiment Tiers: Positive (ratings &gt;= 4), Neutral (rating = 3), and Negative (ratings &lt; 3).</a:t>
            </a:r>
            <a:br/>
            <a:r>
              <a:t>• Outcome: Visualizes service quality and tourist experience feedback directly on the dashboard.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D5A27"/>
                </a:solidFill>
                <a:latin typeface="Arial"/>
              </a:defRPr>
            </a:pPr>
            <a:r>
              <a:t>Key Visualizations &amp;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defRPr sz="1400" b="1">
                <a:solidFill>
                  <a:srgbClr val="0F172A"/>
                </a:solidFill>
              </a:defRPr>
            </a:pPr>
            <a:r>
              <a:t>• Traveler Preferences: </a:t>
            </a:r>
            <a:r>
              <a:rPr b="0" sz="1300">
                <a:solidFill>
                  <a:srgbClr val="64748B"/>
                </a:solidFill>
              </a:rPr>
              <a:t>Shows distribution of category bookings (Adventure, Beach, Culture, Wildlife, City) to determine what tours to advertise.</a:t>
            </a:r>
          </a:p>
          <a:p>
            <a:pPr>
              <a:spcBef>
                <a:spcPts val="800"/>
              </a:spcBef>
              <a:defRPr sz="1400" b="1">
                <a:solidFill>
                  <a:srgbClr val="0F172A"/>
                </a:solidFill>
              </a:defRPr>
            </a:pPr>
            <a:r>
              <a:t>• Customer Segmentation Plot: </a:t>
            </a:r>
            <a:r>
              <a:rPr b="0" sz="1300">
                <a:solidFill>
                  <a:srgbClr val="64748B"/>
                </a:solidFill>
              </a:rPr>
              <a:t>Scatter plot highlighting the distinct clusters of traveler groups based on their spending power vs destination appeal.</a:t>
            </a:r>
          </a:p>
          <a:p>
            <a:pPr>
              <a:spcBef>
                <a:spcPts val="800"/>
              </a:spcBef>
              <a:defRPr sz="1400" b="1">
                <a:solidFill>
                  <a:srgbClr val="0F172A"/>
                </a:solidFill>
              </a:defRPr>
            </a:pPr>
            <a:r>
              <a:t>• Monthly Booking Volume: </a:t>
            </a:r>
            <a:r>
              <a:rPr b="0" sz="1300">
                <a:solidFill>
                  <a:srgbClr val="64748B"/>
                </a:solidFill>
              </a:rPr>
              <a:t>Line chart showing historical demand trends, critical for scheduling vehicle availability and driver assignments.</a:t>
            </a:r>
          </a:p>
          <a:p>
            <a:pPr>
              <a:spcBef>
                <a:spcPts val="800"/>
              </a:spcBef>
              <a:defRPr sz="1400" b="1">
                <a:solidFill>
                  <a:srgbClr val="0F172A"/>
                </a:solidFill>
              </a:defRPr>
            </a:pPr>
            <a:r>
              <a:t>• Destination Popularity vs Satisfaction: </a:t>
            </a:r>
            <a:r>
              <a:rPr b="0" sz="1300">
                <a:solidFill>
                  <a:srgbClr val="64748B"/>
                </a:solidFill>
              </a:rPr>
              <a:t>Dual-axis visualization contrasting the total booking counts with actual average star ratings.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D5A27"/>
                </a:solidFill>
                <a:latin typeface="Arial"/>
              </a:defRPr>
            </a:pPr>
            <a:r>
              <a:t>Project Outcomes &amp; Business Value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000"/>
              </a:spcBef>
              <a:defRPr sz="1500" b="1">
                <a:solidFill>
                  <a:srgbClr val="2D5A27"/>
                </a:solidFill>
              </a:defRPr>
            </a:pPr>
            <a:r>
              <a:t>Secure Authentication &amp; Management</a:t>
            </a:r>
          </a:p>
          <a:p>
            <a:pPr>
              <a:spcBef>
                <a:spcPts val="200"/>
              </a:spcBef>
              <a:defRPr sz="1300">
                <a:solidFill>
                  <a:srgbClr val="0F172A"/>
                </a:solidFill>
              </a:defRPr>
            </a:pPr>
            <a:r>
              <a:t>Includes password hashing, JWT authorization, registration workflows, and automated email alerts on login events.</a:t>
            </a:r>
          </a:p>
          <a:p>
            <a:pPr>
              <a:spcBef>
                <a:spcPts val="1000"/>
              </a:spcBef>
              <a:defRPr sz="1500" b="1">
                <a:solidFill>
                  <a:srgbClr val="2D5A27"/>
                </a:solidFill>
              </a:defRPr>
            </a:pPr>
            <a:r>
              <a:t>Actionable Marketing Insights</a:t>
            </a:r>
          </a:p>
          <a:p>
            <a:pPr>
              <a:spcBef>
                <a:spcPts val="200"/>
              </a:spcBef>
              <a:defRPr sz="1300">
                <a:solidFill>
                  <a:srgbClr val="0F172A"/>
                </a:solidFill>
              </a:defRPr>
            </a:pPr>
            <a:r>
              <a:t>Allows marketing teams to design targeted packages for budget-conscious versus luxury-seeking tourists.</a:t>
            </a:r>
          </a:p>
          <a:p>
            <a:pPr>
              <a:spcBef>
                <a:spcPts val="1000"/>
              </a:spcBef>
              <a:defRPr sz="1500" b="1">
                <a:solidFill>
                  <a:srgbClr val="2D5A27"/>
                </a:solidFill>
              </a:defRPr>
            </a:pPr>
            <a:r>
              <a:t>Enhanced Operations Control</a:t>
            </a:r>
          </a:p>
          <a:p>
            <a:pPr>
              <a:spcBef>
                <a:spcPts val="200"/>
              </a:spcBef>
              <a:defRPr sz="1300">
                <a:solidFill>
                  <a:srgbClr val="0F172A"/>
                </a:solidFill>
              </a:defRPr>
            </a:pPr>
            <a:r>
              <a:t>Provides operational visibility into monthly seasonal demands to forecast inventory, tours, and staff bookings.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